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2d0868bb84955" /><Relationship Type="http://schemas.openxmlformats.org/officeDocument/2006/relationships/extended-properties" Target="/docProps/app.xml" Id="R76d4d084908a449c" /><Relationship Type="http://schemas.openxmlformats.org/officeDocument/2006/relationships/officeDocument" Target="/ppt/presentation.xml" Id="R6d6209933f1a4c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80cc6b8c994d80"/>
  </p:sldMasterIdLst>
  <p:notesMasterIdLst>
    <p:notesMasterId xmlns:r="http://schemas.openxmlformats.org/officeDocument/2006/relationships" r:id="R1756378949cb4ca4"/>
  </p:notesMasterIdLst>
  <p:sldIdLst>
    <p:sldId xmlns:r="http://schemas.openxmlformats.org/officeDocument/2006/relationships" id="256" r:id="R055d4b8174144ed0"/>
    <p:sldId xmlns:r="http://schemas.openxmlformats.org/officeDocument/2006/relationships" id="257" r:id="R4f33d756ded94a48"/>
    <p:sldId xmlns:r="http://schemas.openxmlformats.org/officeDocument/2006/relationships" id="258" r:id="Rf7aa354d901b445e"/>
    <p:sldId xmlns:r="http://schemas.openxmlformats.org/officeDocument/2006/relationships" id="259" r:id="R63030704bb094fcd"/>
    <p:sldId xmlns:r="http://schemas.openxmlformats.org/officeDocument/2006/relationships" id="260" r:id="Rc7387b56f7644f09"/>
    <p:sldId xmlns:r="http://schemas.openxmlformats.org/officeDocument/2006/relationships" id="261" r:id="Rc67a9c629c774366"/>
    <p:sldId xmlns:r="http://schemas.openxmlformats.org/officeDocument/2006/relationships" id="262" r:id="R849030f2c4f54108"/>
    <p:sldId xmlns:r="http://schemas.openxmlformats.org/officeDocument/2006/relationships" id="263" r:id="R0d3b7d27b54c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949a7ed6a49d0" /><Relationship Type="http://schemas.openxmlformats.org/officeDocument/2006/relationships/slideMaster" Target="/ppt/slideMasters/slideMaster1.xml" Id="R8680cc6b8c994d80" /><Relationship Type="http://schemas.openxmlformats.org/officeDocument/2006/relationships/notesMaster" Target="/ppt/notesMasters/notesMaster1.xml" Id="R1756378949cb4ca4" /><Relationship Type="http://schemas.openxmlformats.org/officeDocument/2006/relationships/presProps" Target="/ppt/presProps.xml" Id="R5ffc6dd32f454a68" /><Relationship Type="http://schemas.openxmlformats.org/officeDocument/2006/relationships/tableStyles" Target="/ppt/tableStyles.xml" Id="R576c6e5f8f574a7c" /><Relationship Type="http://schemas.openxmlformats.org/officeDocument/2006/relationships/slide" Target="/ppt/slides/slide1.xml" Id="R055d4b8174144ed0" /><Relationship Type="http://schemas.openxmlformats.org/officeDocument/2006/relationships/slide" Target="/ppt/slides/slide2.xml" Id="R4f33d756ded94a48" /><Relationship Type="http://schemas.openxmlformats.org/officeDocument/2006/relationships/slide" Target="/ppt/slides/slide3.xml" Id="Rf7aa354d901b445e" /><Relationship Type="http://schemas.openxmlformats.org/officeDocument/2006/relationships/slide" Target="/ppt/slides/slide4.xml" Id="R63030704bb094fcd" /><Relationship Type="http://schemas.openxmlformats.org/officeDocument/2006/relationships/slide" Target="/ppt/slides/slide5.xml" Id="Rc7387b56f7644f09" /><Relationship Type="http://schemas.openxmlformats.org/officeDocument/2006/relationships/slide" Target="/ppt/slides/slide6.xml" Id="Rc67a9c629c774366" /><Relationship Type="http://schemas.openxmlformats.org/officeDocument/2006/relationships/slide" Target="/ppt/slides/slide7.xml" Id="R849030f2c4f54108" /><Relationship Type="http://schemas.openxmlformats.org/officeDocument/2006/relationships/slide" Target="/ppt/slides/slide8.xml" Id="R0d3b7d27b54c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d1d2827e90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963afb0f54fe6" /><Relationship Type="http://schemas.openxmlformats.org/officeDocument/2006/relationships/notesMaster" Target="/ppt/notesMasters/notesMaster1.xml" Id="R121fcdd052bf4d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82ea7d17b04650" /><Relationship Type="http://schemas.openxmlformats.org/officeDocument/2006/relationships/notesMaster" Target="/ppt/notesMasters/notesMaster1.xml" Id="Red4d3c2b04a0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d2015f6774e85" /><Relationship Type="http://schemas.openxmlformats.org/officeDocument/2006/relationships/notesMaster" Target="/ppt/notesMasters/notesMaster1.xml" Id="Rac5cbcc476c0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c079adbded4ffe" /><Relationship Type="http://schemas.openxmlformats.org/officeDocument/2006/relationships/notesMaster" Target="/ppt/notesMasters/notesMaster1.xml" Id="Rd2826371764f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9ae795fa34c99" /><Relationship Type="http://schemas.openxmlformats.org/officeDocument/2006/relationships/notesMaster" Target="/ppt/notesMasters/notesMaster1.xml" Id="R52bbe7756bb148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b69786ab04a80" /><Relationship Type="http://schemas.openxmlformats.org/officeDocument/2006/relationships/notesMaster" Target="/ppt/notesMasters/notesMaster1.xml" Id="R01857c5112cb47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0ce1b0a7994e74" /><Relationship Type="http://schemas.openxmlformats.org/officeDocument/2006/relationships/notesMaster" Target="/ppt/notesMasters/notesMaster1.xml" Id="Rb766baa63a4f4d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d8f5b7b8124e90" /><Relationship Type="http://schemas.openxmlformats.org/officeDocument/2006/relationships/notesMaster" Target="/ppt/notesMasters/notesMaster1.xml" Id="Rd3f91f6ae8b6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photograph and saved YOLOv8 predictions from training run 20260923_132304. Personal photographs provide qualitative evidence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images: University of Tebessa, via Mohammad Mango adapted Roboflow version 1. Export declares CC BY 4.0. https://universe.roboflow.com/university-of-tebessa/corrosion-eh3ms Original split 353/44/43. Combine validation and test, move one seeded training image into validation. Stored boxes 3400/707. Loader removes one duplicate train label. Auto-orientation and stretch512, no export augmentation.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https://github.com/mnmango88/steel-rust-detection/releases/tag/v1.0 Baseline run 20260923_132304 and CPU run 20260924_074023. Durations exclude earlier package installation. See README for full checksums.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standalone results/metrics.csv and results/validation/BoxPR_curve.png. Prediction evidence uses confidence 0.25. Validation P/R use the Ultralytics validation operating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images: University of Tebessa, via Mohammad Mango adapted Roboflow version 1. Export declares CC BY 4.0. https://universe.roboflow.com/university-of-tebessa/corrosion-eh3ms Diagnostic overlays added. Red highlights selected error, green inherited labels, blue predictions. Confidence-ordered one-to-one IoU&gt;=0.50 matching. Full 3 FP and 3 FN cases: docs/error_analysis.md and results/evidence/error_analysis/cases.csv. Causes are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screenshots, Roboflow Smart Select UI model SAM3, Polygon output, 24 September 2026. Images 6_jpeg.jpg and 327_jpeg.jpg. Preview polygons do not modify the previously frozen release ZIP. Dataset images: University of Tebessa, via Mohammad Mango adapted Roboflow version 1. Export declares CC BY 4.0. https://universe.roboflow.com/university-of-tebessa/corrosion-eh3ms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supplied photographs, public-street photography permission reported by author. Public project must exclude private client images and preserve source attribution. Separate software and photo licensing documentation remains a repository completion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and full evidence: https://github.com/mnmango88/steel-rust-detection . Proposed improvements have not yet been tested. Low baseline metrics do not support autonomous inspection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435328c314b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ff4bcb7ac4430" /><Relationship Type="http://schemas.openxmlformats.org/officeDocument/2006/relationships/slideLayout" Target="/ppt/slideLayouts/slideLayout1.xml" Id="R94501de90571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01de90571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db706226140d7" /><Relationship Type="http://schemas.openxmlformats.org/officeDocument/2006/relationships/image" Target="/ppt/media/image.jpeg" Id="Rebb2d5c2b67d42ea" /><Relationship Type="http://schemas.openxmlformats.org/officeDocument/2006/relationships/notesSlide" Target="/ppt/notesSlides/notesSlide1.xml" Id="Reab85560287a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09470660646f7" /><Relationship Type="http://schemas.openxmlformats.org/officeDocument/2006/relationships/image" Target="/ppt/media/image2.jpeg" Id="Rab13f2ad6ed94bd9" /><Relationship Type="http://schemas.openxmlformats.org/officeDocument/2006/relationships/notesSlide" Target="/ppt/notesSlides/notesSlide2.xml" Id="Ra1229410c8af4a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2d863efe94252" /><Relationship Type="http://schemas.openxmlformats.org/officeDocument/2006/relationships/notesSlide" Target="/ppt/notesSlides/notesSlide3.xml" Id="Rff9cc8e1dd104a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c32d0b12c4ce2" /><Relationship Type="http://schemas.openxmlformats.org/officeDocument/2006/relationships/image" Target="/ppt/media/image.png" Id="Rae68f08ca4f14ca1" /><Relationship Type="http://schemas.openxmlformats.org/officeDocument/2006/relationships/notesSlide" Target="/ppt/notesSlides/notesSlide4.xml" Id="R49c3a3040f3a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8949405c84d05" /><Relationship Type="http://schemas.openxmlformats.org/officeDocument/2006/relationships/image" Target="/ppt/media/image3.jpeg" Id="R09c4fd997e3447b1" /><Relationship Type="http://schemas.openxmlformats.org/officeDocument/2006/relationships/image" Target="/ppt/media/image4.jpeg" Id="R9c3afc5008b14536" /><Relationship Type="http://schemas.openxmlformats.org/officeDocument/2006/relationships/notesSlide" Target="/ppt/notesSlides/notesSlide5.xml" Id="R453baacb560f43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38cac8f3e4815" /><Relationship Type="http://schemas.openxmlformats.org/officeDocument/2006/relationships/image" Target="/ppt/media/image2.png" Id="R2cdf99508a2545c5" /><Relationship Type="http://schemas.openxmlformats.org/officeDocument/2006/relationships/image" Target="/ppt/media/image3.png" Id="Rcc4ed8dd9c624e82" /><Relationship Type="http://schemas.openxmlformats.org/officeDocument/2006/relationships/notesSlide" Target="/ppt/notesSlides/notesSlide6.xml" Id="R53c841a4392b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48f53937484a" /><Relationship Type="http://schemas.openxmlformats.org/officeDocument/2006/relationships/image" Target="/ppt/media/image5.jpeg" Id="R01fdcb78258a428d" /><Relationship Type="http://schemas.openxmlformats.org/officeDocument/2006/relationships/notesSlide" Target="/ppt/notesSlides/notesSlide7.xml" Id="R534b169a3184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df09f62494f98" /><Relationship Type="http://schemas.openxmlformats.org/officeDocument/2006/relationships/notesSlide" Target="/ppt/notesSlides/notesSlide8.xml" Id="Rc79b611bf06447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260D5-1F03-4B5F-B6C7-FA96F749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Steel rust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AC0B1-E915-4821-8A9E-3D56EA7F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4F9D9-3706-4C55-A139-46867852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YOLOv8 inspection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FCC9F-651C-4522-8282-DEF5887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Mohammad Mango</a:t>
            </a:r>
          </a:p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Module 4, Unit 3</a:t>
            </a:r>
          </a:p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Computer Vision</a:t>
            </a:r>
          </a:p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24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B61E7-ACA0-4D46-A78E-BF5B3796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rPr>
              <a:t>Candidate rust regions for human review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2d5c2b67d42ea"/>
          <a:stretch xmlns:a="http://schemas.openxmlformats.org/drawingml/2006/main"/>
        </p:blipFill>
        <p:spPr>
          <a:xfrm xmlns:a="http://schemas.openxmlformats.org/drawingml/2006/main">
            <a:off x="7262813" y="1238250"/>
            <a:ext cx="3571875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EC9A9-7FCC-4C6E-B2F6-40C0503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Photo: Mohammad Mango. Baseline predictions, run 20260923_132304.</a:t>
            </a:r>
          </a:p>
        </p:txBody>
      </p:sp>
    </p:spTree>
    <p:extLst>
      <p:ext uri="{BB962C8B-B14F-4D97-AF65-F5344CB8AC3E}">
        <p14:creationId xmlns:p14="http://schemas.microsoft.com/office/powerpoint/2010/main" val="84777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00916-E59A-4D3A-9355-42E9F0B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Dataset and labeling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EC4C9-06B3-42F0-93E5-B78A8C3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C36D5-029F-40D1-AD8F-34AAFCE8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440 images</a:t>
            </a:r>
          </a:p>
          <a:p xmlns:a="http://schemas.openxmlformats.org/drawingml/2006/main">
            <a:pPr>
              <a:def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4,107 stored boxes</a:t>
            </a:r>
          </a:p>
          <a:p xmlns:a="http://schemas.openxmlformats.org/drawingml/2006/main">
            <a:pPr>
              <a:def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One class: 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8DC0A-933D-48EF-AA1F-16EA1006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352 training / 88 validation</a:t>
            </a:r>
          </a:p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Seed 42 fixes the split.</a:t>
            </a:r>
          </a:p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No independent test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C44DE-5292-4527-A3DE-ED394DC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552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Tight boxes around visible rust.</a:t>
            </a:r>
          </a:p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Exclude paint, dirt and concrete stains.</a:t>
            </a:r>
          </a:p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Inherited broad boxes remain a limitation.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3f2ad6ed94bd9"/>
          <a:stretch xmlns:a="http://schemas.openxmlformats.org/drawingml/2006/main"/>
        </p:blipFill>
        <p:spPr>
          <a:xfrm xmlns:a="http://schemas.openxmlformats.org/drawingml/2006/main">
            <a:off x="6881813" y="1333500"/>
            <a:ext cx="4333875" cy="4333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B44CE-ECEB-4013-8EE9-49FC107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102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Source annotation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B84B-097D-4AB8-B816-D46AD775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Dataset: University of Tebessa / adapted Roboflow v1. Export license: CC BY 4.0.</a:t>
            </a:r>
          </a:p>
        </p:txBody>
      </p:sp>
    </p:spTree>
    <p:extLst>
      <p:ext uri="{BB962C8B-B14F-4D97-AF65-F5344CB8AC3E}">
        <p14:creationId xmlns:p14="http://schemas.microsoft.com/office/powerpoint/2010/main" val="2000740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BD706-9AE7-4E9B-9044-E47B8B36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Reproduction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6D98D-DA32-41F5-933E-C34CA6A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897D-96BC-4D89-83CC-7C0414F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Public Release ZIP + SHA256</a:t>
            </a:r>
          </a:p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Version 1, fixed YOLOv8 export</a:t>
            </a:r>
          </a:p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No dataset API key or Drive mount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4F55-5805-4410-B739-DAC666F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YOLOv8n, 30 epochs</a:t>
            </a:r>
          </a:p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512 px, batch 16, seed 42</a:t>
            </a:r>
          </a:p>
          <a:p xmlns:a="http://schemas.openxmlformats.org/drawingml/2006/main">
            <a:pPr>
              <a:def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Ultralytics 8.3.221, Tesla T4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5CDC7-FE1E-4094-B469-D413BD6D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104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Training run: 23 September 2026</a:t>
            </a:r>
          </a:p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207.98 seconds for the training call</a:t>
            </a:r>
          </a:p>
          <a:p xmlns:a="http://schemas.openxmlformats.org/drawingml/2006/main">
            <a:pPr>
              <a:def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Author confirmed a fresh GitHub-to-Colab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9632-6775-4740-B44F-4BFA5EB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CPU inference also completed on 24 September.</a:t>
            </a:r>
          </a:p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45.45 seconds after setup, using the published best.pt.</a:t>
            </a:r>
          </a:p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Inference reuses trained weights and performs zero training epochs.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8E635-6AF6-4590-B79E-F3C73E6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Records: baseline 20260923_132304 and CPU inference 20260924_074023.</a:t>
            </a:r>
          </a:p>
        </p:txBody>
      </p:sp>
    </p:spTree>
    <p:extLst>
      <p:ext uri="{BB962C8B-B14F-4D97-AF65-F5344CB8AC3E}">
        <p14:creationId xmlns:p14="http://schemas.microsoft.com/office/powerpoint/2010/main" val="151923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DAB85-AC48-4765-9A5D-99B9B02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Validation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2BEDF-C43C-40A7-A615-9EB0BF77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4381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1907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233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23374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35.51%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36.49%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29.23%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mAP50-95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3747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12.24%</a:t>
                      </a:r>
                    </a:p>
                  </a:txBody>
                  <a:tcPr marL="91440" marR="91440" marT="45720" marB="45720"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8f08ca4f14ca1"/>
          <a:stretch xmlns:a="http://schemas.openxmlformats.org/drawingml/2006/main"/>
        </p:blipFill>
        <p:spPr>
          <a:xfrm xmlns:a="http://schemas.openxmlformats.org/drawingml/2006/main">
            <a:off x="5572125" y="1285875"/>
            <a:ext cx="5857875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EED35-B8A7-4128-97E0-8FBB939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8162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88 images / 707 instances. Stricter overlap requirements reduce mAP.</a:t>
            </a:r>
          </a:p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Substantial missed regions and false detections limit practical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4216B-8907-4ACD-9B81-D06B0125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Source: results/metrics.csv and validation/BoxPR_curve.png, baseline run.</a:t>
            </a:r>
          </a:p>
        </p:txBody>
      </p:sp>
    </p:spTree>
    <p:extLst>
      <p:ext uri="{BB962C8B-B14F-4D97-AF65-F5344CB8AC3E}">
        <p14:creationId xmlns:p14="http://schemas.microsoft.com/office/powerpoint/2010/main" val="408319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BD3BC-49D7-49F0-9059-E630D033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86A34-0FA5-4BAE-9F6A-5E68DFA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4fd997e3447b1"/>
          <a:stretch xmlns:a="http://schemas.openxmlformats.org/drawingml/2006/main"/>
        </p:blipFill>
        <p:spPr>
          <a:xfrm xmlns:a="http://schemas.openxmlformats.org/drawingml/2006/main">
            <a:off x="523875" y="1686967"/>
            <a:ext cx="5238750" cy="286494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afc5008b14536"/>
          <a:stretch xmlns:a="http://schemas.openxmlformats.org/drawingml/2006/main"/>
        </p:blipFill>
        <p:spPr>
          <a:xfrm xmlns:a="http://schemas.openxmlformats.org/drawingml/2006/main">
            <a:off x="6429375" y="1686967"/>
            <a:ext cx="5238750" cy="2864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6327B-6B05-498B-87BA-C00B823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Duplicate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30978-CB3E-4954-A904-84BCEEC2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An extra box matches a region</a:t>
            </a:r>
          </a:p>
          <a:p xmlns:a="http://schemas.openxmlformats.org/drawingml/2006/main">
            <a:pPr>
              <a:def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already assigned to another prediction.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D2703-C544-41B0-991C-2463267A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48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Missed thin rust region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3BDA7-4EA9-4596-A55C-1F10905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The model misses the narrow upper</a:t>
            </a:r>
          </a:p>
          <a:p xmlns:a="http://schemas.openxmlformats.org/drawingml/2006/main">
            <a:pPr>
              <a:def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region at confidence 0.25.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0D257-6E5D-4FED-BF65-C2CAFA8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Dataset: University of Tebessa / CC BY 4.0. Diagnostic overlays: project error analysis.</a:t>
            </a:r>
          </a:p>
        </p:txBody>
      </p:sp>
    </p:spTree>
    <p:extLst>
      <p:ext uri="{BB962C8B-B14F-4D97-AF65-F5344CB8AC3E}">
        <p14:creationId xmlns:p14="http://schemas.microsoft.com/office/powerpoint/2010/main" val="1294755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8D298-393C-47CA-8B41-B4015245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SAM3 annotation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7FE50-B27E-4682-AD81-7F6C497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f99508a2545c5"/>
          <a:stretch xmlns:a="http://schemas.openxmlformats.org/drawingml/2006/main"/>
        </p:blipFill>
        <p:spPr>
          <a:xfrm xmlns:a="http://schemas.openxmlformats.org/drawingml/2006/main">
            <a:off x="523875" y="1348539"/>
            <a:ext cx="5381625" cy="3398921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ed8dd9c624e82"/>
          <a:stretch xmlns:a="http://schemas.openxmlformats.org/drawingml/2006/main"/>
        </p:blipFill>
        <p:spPr>
          <a:xfrm xmlns:a="http://schemas.openxmlformats.org/drawingml/2006/main">
            <a:off x="6579774" y="1285875"/>
            <a:ext cx="4795076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72280-5FF6-4C28-B73B-7AC97F7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538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Complex corrosion: repeated corrections</a:t>
            </a:r>
          </a:p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still leave imperfect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3FC82-CD51-4447-8043-89B5D38E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538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Isolated patch: one point produces</a:t>
            </a:r>
          </a:p>
          <a:p xmlns:a="http://schemas.openxmlformats.org/drawingml/2006/main">
            <a:pPr>
              <a:def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a visually close starting polygon.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2DDDA-7BC2-4F50-AD8E-DA80211D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Two qualitative trials. No mask accuracy score or retraining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DE32A-2913-4F80-AB5A-8FC3E38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Author screenshots, Roboflow Smart Select SAM3. Dataset: University of Tebessa / CC BY 4.0.</a:t>
            </a:r>
          </a:p>
        </p:txBody>
      </p:sp>
    </p:spTree>
    <p:extLst>
      <p:ext uri="{BB962C8B-B14F-4D97-AF65-F5344CB8AC3E}">
        <p14:creationId xmlns:p14="http://schemas.microsoft.com/office/powerpoint/2010/main" val="1451356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DDA79-EE8D-4AB1-9E5D-4802419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New photographs and responsible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3672-EE11-4894-A8BD-35410FA3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dcb78258a428d"/>
          <a:stretch xmlns:a="http://schemas.openxmlformats.org/drawingml/2006/main"/>
        </p:blipFill>
        <p:spPr>
          <a:xfrm xmlns:a="http://schemas.openxmlformats.org/drawingml/2006/main">
            <a:off x="1524000" y="1333500"/>
            <a:ext cx="285750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D37F6-F63F-4B9D-A36B-8F147E1C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Five author photographs from public places</a:t>
            </a:r>
          </a:p>
          <a:p xmlns:a="http://schemas.openxmlformats.org/drawingml/2006/main">
            <a:pPr>
              <a:def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provide qualitative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86F42-086D-4CC0-8778-8CE7466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No independent ground-truth labels.</a:t>
            </a:r>
          </a:p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No detections cannot establish healthy steel.</a:t>
            </a:r>
          </a:p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Photos cannot establish corrosion depth</a:t>
            </a:r>
          </a:p>
          <a:p xmlns:a="http://schemas.openxmlformats.org/drawingml/2006/main">
            <a:pPr>
              <a:def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or structural safety.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9DF30-200B-49AE-98D8-FC97A66A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rPr>
              <a:t>Human inspection remains essential.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0EC22-0A2A-4CA1-9ABF-2A4CE35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Example with no detections at confidence 0.25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789BB-C9A8-413F-A52D-AAB6B5BC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Photo: Mohammad Mango. Qualitative inference example, baseline run.</a:t>
            </a:r>
          </a:p>
        </p:txBody>
      </p:sp>
    </p:spTree>
    <p:extLst>
      <p:ext uri="{BB962C8B-B14F-4D97-AF65-F5344CB8AC3E}">
        <p14:creationId xmlns:p14="http://schemas.microsoft.com/office/powerpoint/2010/main" val="1091281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C45BC-1AB9-43F2-B2B4-E4EE5DC6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Priorities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C3480-9359-4928-8DEE-2413E2C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5A1E6-87F5-4B16-8129-00AD7C2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1  Audit similar images and split by structure/site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08B3C-C373-4882-96AF-E355B24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Reduce leakage risk before measuring generalization to new sites.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7910A-3958-4489-B7E9-CB0DCEE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2  Standardize rust-patch annotations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5AF46-5C74-4511-B9F0-8EE4A7B1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Resolve duplicate boxes and broad component-sized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6E135-957F-4993-AFE1-38AE043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3  Add difficult examples and verified negatives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6FFDF-5134-4D36-BFA0-2DC7801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Target small rust, shadows, red paint and healthy or dirty steel.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3FDE5-CCA7-49C9-9E1F-296A542E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74E29"/>
                </a:solidFill>
                <a:latin typeface="Bitstream Charter"/>
                <a:ea typeface="Bitstream Charter"/>
                <a:cs typeface="Bitstream Charter"/>
              </a:rPr>
              <a:t>Academic baseline completed. Further data work is proposed.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BA7CA-CF88-4BAD-B267-3285AE0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817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233747"/>
                </a:solidFill>
                <a:latin typeface="Bitstream Charter"/>
                <a:ea typeface="Bitstream Charter"/>
                <a:cs typeface="Bitstream Charter"/>
              </a:rPr>
              <a:t>Project: github.com/mnmango88/steel-rust-detection</a:t>
            </a:r>
          </a:p>
        </p:txBody>
      </p:sp>
    </p:spTree>
    <p:extLst>
      <p:ext uri="{BB962C8B-B14F-4D97-AF65-F5344CB8AC3E}">
        <p14:creationId xmlns:p14="http://schemas.microsoft.com/office/powerpoint/2010/main" val="1008936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2026-09-24T08:24:50.0530000Z</dcterms:created>
  <dcterms:modified xsi:type="dcterms:W3CDTF">2026-09-24T08:24:50.0530000Z</dcterms:modified>
</coreProperties>
</file>